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7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31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72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72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8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9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81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3431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67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44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524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2387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en-UG" smtClean="0"/>
              <a:t>‹#›</a:t>
            </a:fld>
            <a:endParaRPr lang="en-UG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08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Association Rule Mining: Market Basket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CATHERINE NALULE</a:t>
            </a:r>
          </a:p>
          <a:p>
            <a:r>
              <a:rPr lang="en-US" dirty="0"/>
              <a:t>2023-B071-22337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sz="2000"/>
              <a:t>Dataset Overview and One-Hot Encoding</a:t>
            </a:r>
          </a:p>
          <a:p>
            <a:r>
              <a:rPr sz="2000"/>
              <a:t>Frequent Itemsets Discovery</a:t>
            </a:r>
          </a:p>
          <a:p>
            <a:r>
              <a:rPr sz="2000"/>
              <a:t>Association Rules Generation</a:t>
            </a:r>
          </a:p>
          <a:p>
            <a:r>
              <a:rPr sz="2000"/>
              <a:t>Dataset Statistics</a:t>
            </a:r>
          </a:p>
          <a:p>
            <a:r>
              <a:rPr sz="2000"/>
              <a:t>Rules Summary and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Dataset &amp; One-Hot Encoding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000"/>
              <a:t>Transaction Data: 10 transactions with 6 unique items (Beer, Bread, Butter, Diapers, Eggs, Milk)</a:t>
            </a:r>
          </a:p>
          <a:p>
            <a:r>
              <a:rPr sz="2000"/>
              <a:t>Sample Transactions:</a:t>
            </a:r>
          </a:p>
          <a:p>
            <a:pPr lvl="1"/>
            <a:r>
              <a:rPr sz="1800"/>
              <a:t>T1: Bread, Milk, Eggs</a:t>
            </a:r>
          </a:p>
          <a:p>
            <a:pPr lvl="1"/>
            <a:r>
              <a:rPr sz="1800"/>
              <a:t>T2: Bread, Butter</a:t>
            </a:r>
          </a:p>
          <a:p>
            <a:pPr lvl="1"/>
            <a:r>
              <a:rPr sz="1800"/>
              <a:t>T3: Milk, Diapers, Beer</a:t>
            </a:r>
          </a:p>
          <a:p>
            <a:pPr lvl="1"/>
            <a:r>
              <a:rPr sz="1800"/>
              <a:t>... and 7 more transactions</a:t>
            </a:r>
          </a:p>
          <a:p>
            <a:r>
              <a:rPr sz="2000"/>
              <a:t>One-Hot Encoding: Binary representation where 1 indicates item presence in transaction</a:t>
            </a:r>
          </a:p>
          <a:p>
            <a:r>
              <a:rPr sz="2000"/>
              <a:t>Encoding converts categorical data to numerical format for algorithm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Frequent Itemsets Found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sz="2000"/>
              <a:t>Parameters: Minimum Support = 0.2, Minimum Confidence = 0.5</a:t>
            </a:r>
          </a:p>
          <a:p>
            <a:r>
              <a:rPr sz="2000"/>
              <a:t>1-itemsets (6 frequent items):</a:t>
            </a:r>
          </a:p>
          <a:p>
            <a:pPr lvl="1"/>
            <a:r>
              <a:rPr sz="1800"/>
              <a:t>Bread (support: 0.6)</a:t>
            </a:r>
          </a:p>
          <a:p>
            <a:pPr lvl="1"/>
            <a:r>
              <a:rPr sz="1800"/>
              <a:t>Milk (support: 0.7)</a:t>
            </a:r>
          </a:p>
          <a:p>
            <a:pPr lvl="1"/>
            <a:r>
              <a:rPr sz="1800"/>
              <a:t>Eggs (support: 0.3)</a:t>
            </a:r>
          </a:p>
          <a:p>
            <a:pPr lvl="1"/>
            <a:r>
              <a:rPr sz="1800"/>
              <a:t>Butter (support: 0.4)</a:t>
            </a:r>
          </a:p>
          <a:p>
            <a:pPr lvl="1"/>
            <a:r>
              <a:rPr sz="1800"/>
              <a:t>Diapers (support: 0.4)</a:t>
            </a:r>
          </a:p>
          <a:p>
            <a:pPr lvl="1"/>
            <a:r>
              <a:rPr sz="1800"/>
              <a:t>Beer (support: 0.3)</a:t>
            </a:r>
          </a:p>
          <a:p>
            <a:r>
              <a:rPr sz="2000"/>
              <a:t>2-itemsets (6 frequent pairs):</a:t>
            </a:r>
          </a:p>
          <a:p>
            <a:pPr lvl="1"/>
            <a:r>
              <a:rPr sz="1800"/>
              <a:t>Bread, Milk (support: 0.4)</a:t>
            </a:r>
          </a:p>
          <a:p>
            <a:pPr lvl="1"/>
            <a:r>
              <a:rPr sz="1800"/>
              <a:t>Bread, Butter (support: 0.3)</a:t>
            </a:r>
          </a:p>
          <a:p>
            <a:pPr lvl="1"/>
            <a:r>
              <a:rPr sz="1800"/>
              <a:t>Milk, Diapers (support: 0.3)</a:t>
            </a:r>
          </a:p>
          <a:p>
            <a:pPr lvl="1"/>
            <a:r>
              <a:rPr sz="1800"/>
              <a:t>... and 3 more pairs</a:t>
            </a:r>
          </a:p>
          <a:p>
            <a:r>
              <a:rPr sz="2000"/>
              <a:t>3-itemsets (3 frequent triples):</a:t>
            </a:r>
          </a:p>
          <a:p>
            <a:pPr lvl="1"/>
            <a:r>
              <a:rPr sz="1800"/>
              <a:t>Bread, Milk, Butter (support: 0.2)</a:t>
            </a:r>
          </a:p>
          <a:p>
            <a:pPr lvl="1"/>
            <a:r>
              <a:rPr sz="1800"/>
              <a:t>Milk, Diapers, Beer (support: 0.2)</a:t>
            </a:r>
          </a:p>
          <a:p>
            <a:pPr lvl="1"/>
            <a:r>
              <a:rPr sz="1800"/>
              <a:t>Bread, Milk, Eggs (support: 0.2)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Generated Association Rules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Top 3 Strongest Rules (by Lift Metric):</a:t>
            </a:r>
          </a:p>
          <a:p>
            <a:pPr lvl="1"/>
            <a:r>
              <a:rPr sz="1800"/>
              <a:t>Rule 1: Beer → Diapers</a:t>
            </a:r>
          </a:p>
          <a:p>
            <a:pPr lvl="2"/>
            <a:r>
              <a:rPr sz="1600"/>
              <a:t>Support: 0.3, Confidence: 1.0, Lift: 2.5</a:t>
            </a:r>
          </a:p>
          <a:p>
            <a:pPr lvl="2"/>
            <a:r>
              <a:rPr sz="1600"/>
              <a:t>Interpretation: Beer buyers are 2.5x more likely to buy Diapers</a:t>
            </a:r>
          </a:p>
          <a:p>
            <a:pPr lvl="1"/>
            <a:r>
              <a:rPr sz="1800"/>
              <a:t>Rule 2: Diapers → Beer</a:t>
            </a:r>
          </a:p>
          <a:p>
            <a:pPr lvl="2"/>
            <a:r>
              <a:rPr sz="1600"/>
              <a:t>Support: 0.3, Confidence: 0.75, Lift: 2.5</a:t>
            </a:r>
          </a:p>
          <a:p>
            <a:pPr lvl="2"/>
            <a:r>
              <a:rPr sz="1600"/>
              <a:t>Interpretation: Diapers buyers are 2.5x more likely to buy Beer</a:t>
            </a:r>
          </a:p>
          <a:p>
            <a:pPr lvl="1"/>
            <a:r>
              <a:rPr sz="1800"/>
              <a:t>Rule 3: Milk → Bread</a:t>
            </a:r>
          </a:p>
          <a:p>
            <a:pPr lvl="2"/>
            <a:r>
              <a:rPr sz="1600"/>
              <a:t>Support: 0.4, Confidence: 0.571, Lift: 0.952</a:t>
            </a:r>
          </a:p>
          <a:p>
            <a:pPr lvl="2"/>
            <a:r>
              <a:rPr sz="1600"/>
              <a:t>Interpretation: Milk buyers are slightly less likely to buy Bread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Dataset Statistics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000"/>
              <a:t>Summary Metrics:</a:t>
            </a:r>
          </a:p>
          <a:p>
            <a:pPr lvl="1"/>
            <a:r>
              <a:rPr sz="1800"/>
              <a:t>Total transactions: 10</a:t>
            </a:r>
          </a:p>
          <a:p>
            <a:pPr lvl="1"/>
            <a:r>
              <a:rPr sz="1800"/>
              <a:t>Total unique items: 6</a:t>
            </a:r>
          </a:p>
          <a:p>
            <a:pPr lvl="1"/>
            <a:r>
              <a:rPr sz="1800"/>
              <a:t>Average items per transaction: 2.7</a:t>
            </a:r>
          </a:p>
          <a:p>
            <a:r>
              <a:rPr sz="2000"/>
              <a:t>Item Frequency Distribution:</a:t>
            </a:r>
          </a:p>
          <a:p>
            <a:pPr lvl="1"/>
            <a:r>
              <a:rPr sz="1800"/>
              <a:t>Milk: 7 purchases (70% of transactions)</a:t>
            </a:r>
          </a:p>
          <a:p>
            <a:pPr lvl="1"/>
            <a:r>
              <a:rPr sz="1800"/>
              <a:t>Bread: 6 purchases (60% of transactions)</a:t>
            </a:r>
          </a:p>
          <a:p>
            <a:pPr lvl="1"/>
            <a:r>
              <a:rPr sz="1800"/>
              <a:t>Butter: 4 purchases (40% of transactions)</a:t>
            </a:r>
          </a:p>
          <a:p>
            <a:pPr lvl="1"/>
            <a:r>
              <a:rPr sz="1800"/>
              <a:t>Diapers: 4 purchases (40% of transactions)</a:t>
            </a:r>
          </a:p>
          <a:p>
            <a:pPr lvl="1"/>
            <a:r>
              <a:rPr sz="1800"/>
              <a:t>Eggs: 3 purchases (30% of transactions)</a:t>
            </a:r>
          </a:p>
          <a:p>
            <a:pPr lvl="1"/>
            <a:r>
              <a:rPr sz="1800"/>
              <a:t>Beer: 3 purchases (30% of transactions)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Generated Rules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000"/>
              <a:t>Total Association Rules Generated: 14</a:t>
            </a:r>
          </a:p>
          <a:p>
            <a:r>
              <a:rPr sz="2000"/>
              <a:t>Key Patterns Identified:</a:t>
            </a:r>
          </a:p>
          <a:p>
            <a:pPr lvl="1"/>
            <a:r>
              <a:rPr sz="1800"/>
              <a:t>Strong positive association: Beer ⇔ Diapers (lift: 2.5)</a:t>
            </a:r>
          </a:p>
          <a:p>
            <a:pPr lvl="1"/>
            <a:r>
              <a:rPr sz="1800"/>
              <a:t>Moderate association: Milk → Bread (support: 0.4, confidence: 0.571)</a:t>
            </a:r>
          </a:p>
          <a:p>
            <a:pPr lvl="1"/>
            <a:r>
              <a:rPr sz="1800"/>
              <a:t>Multi-item patterns: [Bread, Milk, Butter] frequent together</a:t>
            </a:r>
          </a:p>
          <a:p>
            <a:r>
              <a:rPr sz="2000"/>
              <a:t>Rule Type Distribution:</a:t>
            </a:r>
          </a:p>
          <a:p>
            <a:pPr lvl="1"/>
            <a:r>
              <a:rPr sz="1800"/>
              <a:t>Positive association (lift &gt; 1): 4 rules</a:t>
            </a:r>
          </a:p>
          <a:p>
            <a:pPr lvl="1"/>
            <a:r>
              <a:rPr sz="1800"/>
              <a:t>Negative association (lift &lt; 1): 10 rules</a:t>
            </a:r>
          </a:p>
          <a:p>
            <a:pPr lvl="1"/>
            <a:r>
              <a:rPr sz="1800"/>
              <a:t>High confidence (≥ 0.7): 5 rules</a:t>
            </a:r>
          </a:p>
          <a:p>
            <a:pPr lvl="1"/>
            <a:r>
              <a:rPr sz="1800"/>
              <a:t>High support (≥ 0.3): 8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501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Association Rule Mining: Market Basket Analysis</vt:lpstr>
      <vt:lpstr>Presentation Agenda</vt:lpstr>
      <vt:lpstr>Dataset &amp; One-Hot Encoding</vt:lpstr>
      <vt:lpstr>Frequent Itemsets Found</vt:lpstr>
      <vt:lpstr>Generated Association Rules</vt:lpstr>
      <vt:lpstr>Dataset Statistics</vt:lpstr>
      <vt:lpstr>Generated Rules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Emperor</dc:creator>
  <cp:lastModifiedBy>Emperor</cp:lastModifiedBy>
  <cp:revision>6</cp:revision>
  <dcterms:modified xsi:type="dcterms:W3CDTF">2025-12-14T18:48:55Z</dcterms:modified>
</cp:coreProperties>
</file>